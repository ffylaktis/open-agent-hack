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0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315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 i="0">
                <a:solidFill>
                  <a:srgbClr val="128A98"/>
                </a:solidFill>
                <a:latin typeface="Segoe UI"/>
              </a:rPr>
              <a:t>OPEN AGENT HACKATHON 2026 · TRACK 02</a:t>
            </a:r>
          </a:p>
        </p:txBody>
      </p:sp>
      <p:sp>
        <p:nvSpPr>
          <p:cNvPr id="3" name="Rectangle 2"/>
          <p:cNvSpPr/>
          <p:nvPr/>
        </p:nvSpPr>
        <p:spPr>
          <a:xfrm>
            <a:off x="841248" y="2240280"/>
            <a:ext cx="1280160" cy="54864"/>
          </a:xfrm>
          <a:prstGeom prst="rect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60704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600" b="1" i="0">
                <a:solidFill>
                  <a:srgbClr val="FFFFFF"/>
                </a:solidFill>
                <a:latin typeface="Segoe UI"/>
              </a:rPr>
              <a:t>The Agent That Can Explain Why</a:t>
            </a:r>
          </a:p>
          <a:p>
            <a:pPr>
              <a:spcBef>
                <a:spcPts val="1400"/>
              </a:spcBef>
            </a:pPr>
            <a:r>
              <a:rPr sz="2000" b="0" i="0">
                <a:solidFill>
                  <a:srgbClr val="A9B7C0"/>
                </a:solidFill>
                <a:latin typeface="Segoe UI"/>
              </a:rPr>
              <a:t>An evidence-intelligence agent: it grounds every clinical claim in real data — and deletes the ones it can't prove.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806440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0" i="0">
                <a:solidFill>
                  <a:srgbClr val="A9B7C0"/>
                </a:solidFill>
                <a:latin typeface="Segoe UI"/>
              </a:rPr>
              <a:t>Fylaktis Fylaktou · UCLA Semel Institute      Zetaris · Meterless · NVIDIA Nemotron · Cursor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128A98"/>
                </a:solidFill>
                <a:latin typeface="Segoe UI"/>
              </a:rPr>
              <a:t>THE PROBLEM · 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14202B"/>
                </a:solidFill>
                <a:latin typeface="Segoe UI"/>
              </a:rPr>
              <a:t>Confident, uncited, and wrong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755648"/>
            <a:ext cx="1005840" cy="50292"/>
          </a:xfrm>
          <a:prstGeom prst="rect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965960"/>
            <a:ext cx="10881360" cy="4297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301752" indent="-301752">
              <a:spcAft>
                <a:spcPts val="1200"/>
              </a:spcAft>
            </a:pPr>
            <a:r>
              <a:rPr sz="18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4202B"/>
                </a:solidFill>
                <a:latin typeface="Segoe UI"/>
              </a:rPr>
              <a:t>LLMs fabricate clinical citations.</a:t>
            </a:r>
            <a:r>
              <a:rPr sz="1800" b="0" i="0">
                <a:solidFill>
                  <a:srgbClr val="5B6B7A"/>
                </a:solidFill>
                <a:latin typeface="Segoe UI"/>
              </a:rPr>
              <a:t> Published studies report 19.9–91% inaccurate or invented references.</a:t>
            </a:r>
          </a:p>
          <a:p>
            <a:pPr marL="301752" indent="-301752">
              <a:spcAft>
                <a:spcPts val="1200"/>
              </a:spcAft>
            </a:pPr>
            <a:r>
              <a:rPr sz="18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4202B"/>
                </a:solidFill>
                <a:latin typeface="Segoe UI"/>
              </a:rPr>
              <a:t>An unverifiable answer is worse than none.</a:t>
            </a:r>
            <a:r>
              <a:rPr sz="1800" b="0" i="0">
                <a:solidFill>
                  <a:srgbClr val="5B6B7A"/>
                </a:solidFill>
                <a:latin typeface="Segoe UI"/>
              </a:rPr>
              <a:t> In medicine and regulation you must know what's grounded.</a:t>
            </a:r>
          </a:p>
          <a:p>
            <a:pPr marL="301752" indent="-301752">
              <a:spcAft>
                <a:spcPts val="1200"/>
              </a:spcAft>
            </a:pPr>
            <a:r>
              <a:rPr sz="18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4202B"/>
                </a:solidFill>
                <a:latin typeface="Segoe UI"/>
              </a:rPr>
              <a:t>Evidence synthesis is slow.</a:t>
            </a:r>
            <a:r>
              <a:rPr sz="1800" b="0" i="0">
                <a:solidFill>
                  <a:srgbClr val="5B6B7A"/>
                </a:solidFill>
                <a:latin typeface="Segoe UI"/>
              </a:rPr>
              <a:t> Reconciling trial registries against device clearances is manual and costly.</a:t>
            </a:r>
          </a:p>
          <a:p>
            <a:pPr marL="301752" indent="-301752">
              <a:spcAft>
                <a:spcPts val="1200"/>
              </a:spcAft>
            </a:pPr>
            <a:r>
              <a:rPr sz="18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4202B"/>
                </a:solidFill>
                <a:latin typeface="Segoe UI"/>
              </a:rPr>
              <a:t>Users:</a:t>
            </a:r>
            <a:r>
              <a:rPr sz="1800" b="0" i="0">
                <a:solidFill>
                  <a:srgbClr val="5B6B7A"/>
                </a:solidFill>
                <a:latin typeface="Segoe UI"/>
              </a:rPr>
              <a:t> clinical &amp; regulatory evidence teams, pharma competitive-intelligence, researchers — who need an auditable answer, not a chatbot guess.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15240"/>
          </a:xfrm>
          <a:prstGeom prst="rect">
            <a:avLst/>
          </a:prstGeom>
          <a:solidFill>
            <a:srgbClr val="E3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37376"/>
            <a:ext cx="109087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 i="0">
                <a:solidFill>
                  <a:srgbClr val="5B6B7A"/>
                </a:solidFill>
                <a:latin typeface="Segoe UI"/>
              </a:rPr>
              <a:t>Evidence-Intelligence Agent · Open Agent Hackathon 2026 · Track 02 · Fylaktis Fylaktou · UCLA Semel Institute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128A98"/>
                </a:solidFill>
                <a:latin typeface="Segoe UI"/>
              </a:rPr>
              <a:t>THE DEMO QUESTION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914400"/>
            <a:ext cx="1005840" cy="50292"/>
          </a:xfrm>
          <a:prstGeom prst="rect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200" b="1" i="1">
                <a:solidFill>
                  <a:srgbClr val="14202B"/>
                </a:solidFill>
                <a:latin typeface="Segoe UI"/>
              </a:rPr>
              <a:t>“What neuromodulation is being trialed for anorexia nervosa, and is any of it FDA-cleared for that use?”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88620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0" i="0">
                <a:solidFill>
                  <a:srgbClr val="5B6B7A"/>
                </a:solidFill>
                <a:latin typeface="Segoe UI"/>
              </a:rPr>
              <a:t>A real cross-source question where the honest answer is nuanced — and easy to get confidently wrong.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15240"/>
          </a:xfrm>
          <a:prstGeom prst="rect">
            <a:avLst/>
          </a:prstGeom>
          <a:solidFill>
            <a:srgbClr val="E3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37376"/>
            <a:ext cx="109087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 i="0">
                <a:solidFill>
                  <a:srgbClr val="5B6B7A"/>
                </a:solidFill>
                <a:latin typeface="Segoe UI"/>
              </a:rPr>
              <a:t>Evidence-Intelligence Agent · Open Agent Hackathon 2026 · Track 02 · Fylaktis Fylaktou · UCLA Semel Institute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128A98"/>
                </a:solidFill>
                <a:latin typeface="Segoe UI"/>
              </a:rPr>
              <a:t>THE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14202B"/>
                </a:solidFill>
                <a:latin typeface="Segoe UI"/>
              </a:rPr>
              <a:t>Grounded answers, with receipts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755648"/>
            <a:ext cx="1005840" cy="50292"/>
          </a:xfrm>
          <a:prstGeom prst="rect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148840"/>
            <a:ext cx="54406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301752" indent="-301752">
              <a:spcAft>
                <a:spcPts val="1600"/>
              </a:spcAft>
            </a:pPr>
            <a:r>
              <a:rPr sz="17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700" b="1" i="0">
                <a:solidFill>
                  <a:srgbClr val="14202B"/>
                </a:solidFill>
                <a:latin typeface="Segoe UI"/>
              </a:rPr>
              <a:t>Grounded, not guessed.</a:t>
            </a:r>
            <a:r>
              <a:rPr sz="1700" b="0" i="0">
                <a:solidFill>
                  <a:srgbClr val="5B6B7A"/>
                </a:solidFill>
                <a:latin typeface="Segoe UI"/>
              </a:rPr>
              <a:t> Gathers governed evidence and cites the exact SQL behind every claim.</a:t>
            </a:r>
          </a:p>
          <a:p>
            <a:pPr marL="301752" indent="-301752">
              <a:spcAft>
                <a:spcPts val="1600"/>
              </a:spcAft>
            </a:pPr>
            <a:r>
              <a:rPr sz="17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700" b="1" i="0">
                <a:solidFill>
                  <a:srgbClr val="14202B"/>
                </a:solidFill>
                <a:latin typeface="Segoe UI"/>
              </a:rPr>
              <a:t>An Evaluator that deletes what it can't back.</a:t>
            </a:r>
            <a:r>
              <a:rPr sz="1700" b="0" i="0">
                <a:solidFill>
                  <a:srgbClr val="5B6B7A"/>
                </a:solidFill>
                <a:latin typeface="Segoe UI"/>
              </a:rPr>
              <a:t> Each claim is re-checked against only its own evidence.</a:t>
            </a:r>
          </a:p>
          <a:p>
            <a:pPr marL="301752" indent="-301752">
              <a:spcAft>
                <a:spcPts val="1600"/>
              </a:spcAft>
            </a:pPr>
            <a:r>
              <a:rPr sz="17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700" b="1" i="0">
                <a:solidFill>
                  <a:srgbClr val="14202B"/>
                </a:solidFill>
                <a:latin typeface="Segoe UI"/>
              </a:rPr>
              <a:t>Honest scope.</a:t>
            </a:r>
            <a:r>
              <a:rPr sz="1700" b="0" i="0">
                <a:solidFill>
                  <a:srgbClr val="5B6B7A"/>
                </a:solidFill>
                <a:latin typeface="Segoe UI"/>
              </a:rPr>
              <a:t> Affirms the scoped conclusion; rejects the over-claim “rTMS is FDA-cleared for anorexia.”</a:t>
            </a:r>
          </a:p>
        </p:txBody>
      </p:sp>
      <p:pic>
        <p:nvPicPr>
          <p:cNvPr id="6" name="Picture 5" descr="ui_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2011680"/>
            <a:ext cx="3384331" cy="4160520"/>
          </a:xfrm>
          <a:prstGeom prst="rect">
            <a:avLst/>
          </a:prstGeom>
          <a:ln w="12700">
            <a:solidFill>
              <a:srgbClr val="E3E9EF"/>
            </a:solidFill>
          </a:ln>
        </p:spPr>
      </p:pic>
      <p:sp>
        <p:nvSpPr>
          <p:cNvPr id="7" name="Rectangle 6"/>
          <p:cNvSpPr/>
          <p:nvPr/>
        </p:nvSpPr>
        <p:spPr>
          <a:xfrm>
            <a:off x="640080" y="6400800"/>
            <a:ext cx="10908792" cy="15240"/>
          </a:xfrm>
          <a:prstGeom prst="rect">
            <a:avLst/>
          </a:prstGeom>
          <a:solidFill>
            <a:srgbClr val="E3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09087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 i="0">
                <a:solidFill>
                  <a:srgbClr val="5B6B7A"/>
                </a:solidFill>
                <a:latin typeface="Segoe UI"/>
              </a:rPr>
              <a:t>Evidence-Intelligence Agent · Open Agent Hackathon 2026 · Track 02 · Fylaktis Fylaktou · UCLA Semel Institute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128A98"/>
                </a:solidFill>
                <a:latin typeface="Segoe UI"/>
              </a:rPr>
              <a:t>ARCHITECTURE · TECHNICAL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14202B"/>
                </a:solidFill>
                <a:latin typeface="Segoe UI"/>
              </a:rPr>
              <a:t>A real agent, not a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755648"/>
            <a:ext cx="1005840" cy="50292"/>
          </a:xfrm>
          <a:prstGeom prst="rect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2697480"/>
            <a:ext cx="1845807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28A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50" b="1" i="0">
                <a:solidFill>
                  <a:srgbClr val="14202B"/>
                </a:solidFill>
                <a:latin typeface="Segoe UI"/>
              </a:rPr>
              <a:t>Planner</a:t>
            </a:r>
          </a:p>
          <a:p>
            <a:pPr algn="ctr"/>
            <a:r>
              <a:rPr sz="900" b="0" i="0">
                <a:solidFill>
                  <a:srgbClr val="5B6B7A"/>
                </a:solidFill>
                <a:latin typeface="Segoe UI"/>
              </a:rPr>
              <a:t>decompose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531607" y="3063240"/>
            <a:ext cx="329184" cy="182880"/>
          </a:xfrm>
          <a:prstGeom prst="rightArrow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906511" y="2697480"/>
            <a:ext cx="1845807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28A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50" b="1" i="0">
                <a:solidFill>
                  <a:srgbClr val="14202B"/>
                </a:solidFill>
                <a:latin typeface="Segoe UI"/>
              </a:rPr>
              <a:t>Analyst</a:t>
            </a:r>
          </a:p>
          <a:p>
            <a:pPr algn="ctr"/>
            <a:r>
              <a:rPr sz="900" b="0" i="0">
                <a:solidFill>
                  <a:srgbClr val="5B6B7A"/>
                </a:solidFill>
                <a:latin typeface="Segoe UI"/>
              </a:rPr>
              <a:t>SQL → evidence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798039" y="3063240"/>
            <a:ext cx="329184" cy="182880"/>
          </a:xfrm>
          <a:prstGeom prst="rightArrow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72943" y="2697480"/>
            <a:ext cx="1845807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28A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50" b="1" i="0">
                <a:solidFill>
                  <a:srgbClr val="14202B"/>
                </a:solidFill>
                <a:latin typeface="Segoe UI"/>
              </a:rPr>
              <a:t>cross_source</a:t>
            </a:r>
          </a:p>
          <a:p>
            <a:pPr algn="ctr"/>
            <a:r>
              <a:rPr sz="900" b="0" i="0">
                <a:solidFill>
                  <a:srgbClr val="5B6B7A"/>
                </a:solidFill>
                <a:latin typeface="Segoe UI"/>
              </a:rPr>
              <a:t>trialed × cleared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64471" y="3063240"/>
            <a:ext cx="329184" cy="182880"/>
          </a:xfrm>
          <a:prstGeom prst="rightArrow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439375" y="2697480"/>
            <a:ext cx="1845807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28A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50" b="1" i="0">
                <a:solidFill>
                  <a:srgbClr val="14202B"/>
                </a:solidFill>
                <a:latin typeface="Segoe UI"/>
              </a:rPr>
              <a:t>Reporter</a:t>
            </a:r>
          </a:p>
          <a:p>
            <a:pPr algn="ctr"/>
            <a:r>
              <a:rPr sz="900" b="0" i="0">
                <a:solidFill>
                  <a:srgbClr val="5B6B7A"/>
                </a:solidFill>
                <a:latin typeface="Segoe UI"/>
              </a:rPr>
              <a:t>cite claims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330903" y="3063240"/>
            <a:ext cx="329184" cy="182880"/>
          </a:xfrm>
          <a:prstGeom prst="rightArrow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705807" y="2697480"/>
            <a:ext cx="1845807" cy="914400"/>
          </a:xfrm>
          <a:prstGeom prst="roundRect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50" b="1" i="0">
                <a:solidFill>
                  <a:srgbClr val="FFFFFF"/>
                </a:solidFill>
                <a:latin typeface="Segoe UI"/>
              </a:rPr>
              <a:t>Evaluator</a:t>
            </a:r>
          </a:p>
          <a:p>
            <a:pPr algn="ctr"/>
            <a:r>
              <a:rPr sz="900" b="0" i="0">
                <a:solidFill>
                  <a:srgbClr val="DDF0F2"/>
                </a:solidFill>
                <a:latin typeface="Segoe UI"/>
              </a:rPr>
              <a:t>verify / reject</a:t>
            </a:r>
          </a:p>
        </p:txBody>
      </p:sp>
      <p:cxnSp>
        <p:nvCxnSpPr>
          <p:cNvPr id="14" name="Connector 13"/>
          <p:cNvCxnSpPr/>
          <p:nvPr/>
        </p:nvCxnSpPr>
        <p:spPr>
          <a:xfrm flipV="1">
            <a:off x="10628711" y="2240280"/>
            <a:ext cx="0" cy="457200"/>
          </a:xfrm>
          <a:prstGeom prst="line">
            <a:avLst/>
          </a:prstGeom>
          <a:ln w="28575">
            <a:solidFill>
              <a:srgbClr val="B884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8362279" y="2240280"/>
            <a:ext cx="2266432" cy="0"/>
          </a:xfrm>
          <a:prstGeom prst="line">
            <a:avLst/>
          </a:prstGeom>
          <a:ln w="28575">
            <a:solidFill>
              <a:srgbClr val="B884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8362279" y="2240280"/>
            <a:ext cx="0" cy="457200"/>
          </a:xfrm>
          <a:prstGeom prst="line">
            <a:avLst/>
          </a:prstGeom>
          <a:ln w="28575">
            <a:solidFill>
              <a:srgbClr val="B8842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905079" y="1892808"/>
            <a:ext cx="318083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B8842A"/>
                </a:solidFill>
                <a:latin typeface="Segoe UI"/>
              </a:rPr>
              <a:t>✗ revise · re-cite  (≤ MAX_ROUNDS)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906511" y="4297680"/>
            <a:ext cx="8645103" cy="731520"/>
          </a:xfrm>
          <a:prstGeom prst="roundRect">
            <a:avLst/>
          </a:prstGeom>
          <a:solidFill>
            <a:srgbClr val="FDF3E3"/>
          </a:solidFill>
          <a:ln w="15875">
            <a:solidFill>
              <a:srgbClr val="B884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50" b="1" i="0">
                <a:solidFill>
                  <a:srgbClr val="B8842A"/>
                </a:solidFill>
                <a:latin typeface="Segoe UI"/>
              </a:rPr>
              <a:t>H-MEM — shared evidence memory  ·  source · provenance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829415" y="3611880"/>
            <a:ext cx="0" cy="685800"/>
          </a:xfrm>
          <a:prstGeom prst="line">
            <a:avLst/>
          </a:prstGeom>
          <a:ln w="19050">
            <a:solidFill>
              <a:srgbClr val="9AA7B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095847" y="3611880"/>
            <a:ext cx="0" cy="685800"/>
          </a:xfrm>
          <a:prstGeom prst="line">
            <a:avLst/>
          </a:prstGeom>
          <a:ln w="19050">
            <a:solidFill>
              <a:srgbClr val="9AA7B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8362279" y="3611880"/>
            <a:ext cx="0" cy="685800"/>
          </a:xfrm>
          <a:prstGeom prst="line">
            <a:avLst/>
          </a:prstGeom>
          <a:ln w="19050">
            <a:solidFill>
              <a:srgbClr val="9AA7B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10628711" y="3611880"/>
            <a:ext cx="0" cy="685800"/>
          </a:xfrm>
          <a:prstGeom prst="line">
            <a:avLst/>
          </a:prstGeom>
          <a:ln w="19050">
            <a:solidFill>
              <a:srgbClr val="9AA7B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40080" y="525780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5B6B7A"/>
                </a:solidFill>
                <a:latin typeface="Segoe UI"/>
              </a:rPr>
              <a:t>Left to right, but not a pipeline — specialized roles share a common memory (gatherers write · consumers read), with a verify-and-revise feedback loop.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6400800"/>
            <a:ext cx="10908792" cy="15240"/>
          </a:xfrm>
          <a:prstGeom prst="rect">
            <a:avLst/>
          </a:prstGeom>
          <a:solidFill>
            <a:srgbClr val="E3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6437376"/>
            <a:ext cx="109087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 i="0">
                <a:solidFill>
                  <a:srgbClr val="5B6B7A"/>
                </a:solidFill>
                <a:latin typeface="Segoe UI"/>
              </a:rPr>
              <a:t>Evidence-Intelligence Agent · Open Agent Hackathon 2026 · Track 02 · Fylaktis Fylaktou · UCLA Semel Institute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128A98"/>
                </a:solidFill>
                <a:latin typeface="Segoe UI"/>
              </a:rPr>
              <a:t>THE INNOVATION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14202B"/>
                </a:solidFill>
                <a:latin typeface="Segoe UI"/>
              </a:rPr>
              <a:t>The reconciliation is the insight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755648"/>
            <a:ext cx="1005840" cy="50292"/>
          </a:xfrm>
          <a:prstGeom prst="rect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2240280"/>
            <a:ext cx="5120640" cy="54864"/>
          </a:xfrm>
          <a:prstGeom prst="rect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37744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 i="0">
                <a:solidFill>
                  <a:srgbClr val="14202B"/>
                </a:solidFill>
                <a:latin typeface="Segoe UI"/>
              </a:rPr>
              <a:t>Trialed — ClinicalTrials.gov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971800"/>
            <a:ext cx="51206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600" b="1" i="0">
                <a:solidFill>
                  <a:srgbClr val="128A98"/>
                </a:solidFill>
                <a:latin typeface="Segoe UI"/>
              </a:rPr>
              <a:t>•  </a:t>
            </a:r>
            <a:r>
              <a:rPr sz="1600" b="0" i="0">
                <a:solidFill>
                  <a:srgbClr val="14202B"/>
                </a:solidFill>
                <a:latin typeface="Segoe UI"/>
              </a:rPr>
              <a:t>tDCS · theta-burst · deep-brain stimulation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128A98"/>
                </a:solidFill>
                <a:latin typeface="Segoe UI"/>
              </a:rPr>
              <a:t>•  </a:t>
            </a:r>
            <a:r>
              <a:rPr sz="1600" b="0" i="0">
                <a:solidFill>
                  <a:srgbClr val="14202B"/>
                </a:solidFill>
                <a:latin typeface="Segoe UI"/>
              </a:rPr>
              <a:t>24 device trial-arms for anorexia nervosa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2240280"/>
            <a:ext cx="5120640" cy="54864"/>
          </a:xfrm>
          <a:prstGeom prst="rect">
            <a:avLst/>
          </a:prstGeom>
          <a:solidFill>
            <a:srgbClr val="B88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237744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 i="0">
                <a:solidFill>
                  <a:srgbClr val="14202B"/>
                </a:solidFill>
                <a:latin typeface="Segoe UI"/>
              </a:rPr>
              <a:t>Cleared — openFDA 510(k)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971800"/>
            <a:ext cx="51206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600" b="1" i="0">
                <a:solidFill>
                  <a:srgbClr val="B8842A"/>
                </a:solidFill>
                <a:latin typeface="Segoe UI"/>
              </a:rPr>
              <a:t>•  </a:t>
            </a:r>
            <a:r>
              <a:rPr sz="1600" b="0" i="0">
                <a:solidFill>
                  <a:srgbClr val="14202B"/>
                </a:solidFill>
                <a:latin typeface="Segoe UI"/>
              </a:rPr>
              <a:t>25 cleared transcranial neuro-devices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B8842A"/>
                </a:solidFill>
                <a:latin typeface="Segoe UI"/>
              </a:rPr>
              <a:t>•  </a:t>
            </a:r>
            <a:r>
              <a:rPr sz="1600" b="0" i="0">
                <a:solidFill>
                  <a:srgbClr val="14202B"/>
                </a:solidFill>
                <a:latin typeface="Segoe UI"/>
              </a:rPr>
              <a:t>specialties: Neurology · Cardiology · Radiology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B8842A"/>
                </a:solidFill>
                <a:latin typeface="Segoe UI"/>
              </a:rPr>
              <a:t>•  </a:t>
            </a:r>
            <a:r>
              <a:rPr sz="1600" b="0" i="0">
                <a:solidFill>
                  <a:srgbClr val="14202B"/>
                </a:solidFill>
                <a:latin typeface="Segoe UI"/>
              </a:rPr>
              <a:t>none reference anorexia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21208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 i="0">
                <a:solidFill>
                  <a:srgbClr val="C0392B"/>
                </a:solidFill>
                <a:latin typeface="Segoe UI"/>
              </a:rPr>
              <a:t>Trialed ≠ cleared.  </a:t>
            </a:r>
            <a:r>
              <a:rPr sz="1800" b="0" i="0">
                <a:solidFill>
                  <a:srgbClr val="14202B"/>
                </a:solidFill>
                <a:latin typeface="Segoe UI"/>
              </a:rPr>
              <a:t>The agent surfaces the gap explicitly — that reconciliation is the answer.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00800"/>
            <a:ext cx="10908792" cy="15240"/>
          </a:xfrm>
          <a:prstGeom prst="rect">
            <a:avLst/>
          </a:prstGeom>
          <a:solidFill>
            <a:srgbClr val="E3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109087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 i="0">
                <a:solidFill>
                  <a:srgbClr val="5B6B7A"/>
                </a:solidFill>
                <a:latin typeface="Segoe UI"/>
              </a:rPr>
              <a:t>Evidence-Intelligence Agent · Open Agent Hackathon 2026 · Track 02 · Fylaktis Fylaktou · UCLA Semel Institute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0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E25C4D"/>
                </a:solidFill>
                <a:latin typeface="Segoe UI"/>
              </a:rPr>
              <a:t>THE INTEGRITY MOMENT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600" b="1" i="0">
                <a:solidFill>
                  <a:srgbClr val="FFFFFF"/>
                </a:solidFill>
                <a:latin typeface="Segoe UI"/>
              </a:rPr>
              <a:t>It deletes what it can't prove.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810512"/>
            <a:ext cx="1005840" cy="50292"/>
          </a:xfrm>
          <a:prstGeom prst="rect">
            <a:avLst/>
          </a:prstGeom>
          <a:solidFill>
            <a:srgbClr val="E25C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5146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0" i="0">
                <a:solidFill>
                  <a:srgbClr val="A9B7C0"/>
                </a:solidFill>
                <a:latin typeface="Segoe UI"/>
              </a:rPr>
              <a:t>The agent was handed a plausible, false claim: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017520"/>
            <a:ext cx="7955279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700" b="1" i="0" strike="sngStrike">
                <a:solidFill>
                  <a:srgbClr val="A9B7C0"/>
                </a:solidFill>
                <a:latin typeface="Segoe UI"/>
              </a:rPr>
              <a:t>rTMS is FDA-cleared to treat anorexia nervosa</a:t>
            </a:r>
          </a:p>
        </p:txBody>
      </p:sp>
      <p:sp>
        <p:nvSpPr>
          <p:cNvPr id="7" name="Rounded Rectangle 6"/>
          <p:cNvSpPr/>
          <p:nvPr/>
        </p:nvSpPr>
        <p:spPr>
          <a:xfrm rot="21060000">
            <a:off x="8915400" y="2788920"/>
            <a:ext cx="2514600" cy="960120"/>
          </a:xfrm>
          <a:prstGeom prst="roundRect">
            <a:avLst/>
          </a:prstGeom>
          <a:noFill/>
          <a:ln w="28575">
            <a:solidFill>
              <a:srgbClr val="E25C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 i="0">
                <a:solidFill>
                  <a:srgbClr val="E25C4D"/>
                </a:solidFill>
                <a:latin typeface="Segoe UI"/>
              </a:rPr>
              <a:t>✗  UNSUPPORTED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160520"/>
            <a:ext cx="104241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0" i="0">
                <a:solidFill>
                  <a:srgbClr val="DDE6EB"/>
                </a:solidFill>
                <a:latin typeface="Segoe UI"/>
              </a:rPr>
              <a:t>The cited records show those devices are cleared — but not one references anorexia. Unsupported, so the agent refuses to say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62356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1" i="0">
                <a:solidFill>
                  <a:srgbClr val="128A98"/>
                </a:solidFill>
                <a:latin typeface="Segoe UI"/>
              </a:rPr>
              <a:t>Every rejection ships with its reason — that is the “why.”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128A98"/>
                </a:solidFill>
                <a:latin typeface="Segoe UI"/>
              </a:rPr>
              <a:t>SPONSOR TECH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14202B"/>
                </a:solidFill>
                <a:latin typeface="Segoe UI"/>
              </a:rPr>
              <a:t>Built on the sponsor stack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755648"/>
            <a:ext cx="1005840" cy="50292"/>
          </a:xfrm>
          <a:prstGeom prst="rect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32688" y="1965960"/>
            <a:ext cx="2416302" cy="868680"/>
          </a:xfrm>
          <a:prstGeom prst="roundRect">
            <a:avLst/>
          </a:prstGeom>
          <a:solidFill>
            <a:srgbClr val="FAFBFC"/>
          </a:solidFill>
          <a:ln w="12700">
            <a:solidFill>
              <a:srgbClr val="E3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zeta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5583" y="2148840"/>
            <a:ext cx="1810511" cy="502919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3568446" y="1965960"/>
            <a:ext cx="2416302" cy="868680"/>
          </a:xfrm>
          <a:prstGeom prst="roundRect">
            <a:avLst/>
          </a:prstGeom>
          <a:solidFill>
            <a:srgbClr val="FAFBFC"/>
          </a:solidFill>
          <a:ln w="12700">
            <a:solidFill>
              <a:srgbClr val="E3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meterle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5137" y="2148840"/>
            <a:ext cx="502919" cy="502919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04204" y="1965960"/>
            <a:ext cx="2416302" cy="868680"/>
          </a:xfrm>
          <a:prstGeom prst="roundRect">
            <a:avLst/>
          </a:prstGeom>
          <a:solidFill>
            <a:srgbClr val="FAFBFC"/>
          </a:solidFill>
          <a:ln w="12700">
            <a:solidFill>
              <a:srgbClr val="E3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nvidi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7083" y="2208427"/>
            <a:ext cx="2050542" cy="38374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8839961" y="1965960"/>
            <a:ext cx="2416302" cy="868680"/>
          </a:xfrm>
          <a:prstGeom prst="roundRect">
            <a:avLst/>
          </a:prstGeom>
          <a:solidFill>
            <a:srgbClr val="FAFBFC"/>
          </a:solidFill>
          <a:ln w="12700">
            <a:solidFill>
              <a:srgbClr val="E3E9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urso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96653" y="2148840"/>
            <a:ext cx="502919" cy="50291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0080" y="3108960"/>
            <a:ext cx="1088136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301752" indent="-301752">
              <a:spcAft>
                <a:spcPts val="1000"/>
              </a:spcAft>
            </a:pPr>
            <a:r>
              <a:rPr sz="15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500" b="1" i="0">
                <a:solidFill>
                  <a:srgbClr val="14202B"/>
                </a:solidFill>
                <a:latin typeface="Segoe UI"/>
              </a:rPr>
              <a:t>Zetaris</a:t>
            </a:r>
            <a:r>
              <a:rPr sz="1500" b="0" i="0">
                <a:solidFill>
                  <a:srgbClr val="5B6B7A"/>
                </a:solidFill>
                <a:latin typeface="Segoe UI"/>
              </a:rPr>
              <a:t> — governed SQL data layer; read-only guard; a cross-source join of two disconnected registries.</a:t>
            </a:r>
          </a:p>
          <a:p>
            <a:pPr marL="301752" indent="-301752">
              <a:spcAft>
                <a:spcPts val="1000"/>
              </a:spcAft>
            </a:pPr>
            <a:r>
              <a:rPr sz="15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500" b="1" i="0">
                <a:solidFill>
                  <a:srgbClr val="14202B"/>
                </a:solidFill>
                <a:latin typeface="Segoe UI"/>
              </a:rPr>
              <a:t>Meterless</a:t>
            </a:r>
            <a:r>
              <a:rPr sz="1500" b="0" i="0">
                <a:solidFill>
                  <a:srgbClr val="5B6B7A"/>
                </a:solidFill>
                <a:latin typeface="Segoe UI"/>
              </a:rPr>
              <a:t> — H-MEM evidence engine + Nightshift provider; every model call returns a signed receipt.</a:t>
            </a:r>
          </a:p>
          <a:p>
            <a:pPr marL="301752" indent="-301752">
              <a:spcAft>
                <a:spcPts val="1000"/>
              </a:spcAft>
            </a:pPr>
            <a:r>
              <a:rPr sz="15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500" b="1" i="0">
                <a:solidFill>
                  <a:srgbClr val="14202B"/>
                </a:solidFill>
                <a:latin typeface="Segoe UI"/>
              </a:rPr>
              <a:t>NVIDIA Nemotron</a:t>
            </a:r>
            <a:r>
              <a:rPr sz="1500" b="0" i="0">
                <a:solidFill>
                  <a:srgbClr val="5B6B7A"/>
                </a:solidFill>
                <a:latin typeface="Segoe UI"/>
              </a:rPr>
              <a:t> — pinned reasoning model (nemotron-3.5-lightning-30b-a3b); it does the adjudication.</a:t>
            </a:r>
          </a:p>
          <a:p>
            <a:pPr marL="301752" indent="-301752">
              <a:spcAft>
                <a:spcPts val="1000"/>
              </a:spcAft>
            </a:pPr>
            <a:r>
              <a:rPr sz="15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500" b="1" i="0">
                <a:solidFill>
                  <a:srgbClr val="14202B"/>
                </a:solidFill>
                <a:latin typeface="Segoe UI"/>
              </a:rPr>
              <a:t>Cursor</a:t>
            </a:r>
            <a:r>
              <a:rPr sz="1500" b="0" i="0">
                <a:solidFill>
                  <a:srgbClr val="5B6B7A"/>
                </a:solidFill>
                <a:latin typeface="Segoe UI"/>
              </a:rPr>
              <a:t> — development environment.</a:t>
            </a:r>
          </a:p>
          <a:p>
            <a:pPr marL="301752" indent="-301752">
              <a:spcAft>
                <a:spcPts val="1000"/>
              </a:spcAft>
            </a:pPr>
            <a:r>
              <a:rPr sz="15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500" b="1" i="0">
                <a:solidFill>
                  <a:srgbClr val="14202B"/>
                </a:solidFill>
                <a:latin typeface="Segoe UI"/>
              </a:rPr>
              <a:t>Telemetry per run:</a:t>
            </a:r>
            <a:r>
              <a:rPr sz="1500" b="0" i="0">
                <a:solidFill>
                  <a:srgbClr val="5B6B7A"/>
                </a:solidFill>
                <a:latin typeface="Segoe UI"/>
              </a:rPr>
              <a:t> 24 Meterless-routed calls · 41,480 tokens · signed receipts.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6400800"/>
            <a:ext cx="10908792" cy="15240"/>
          </a:xfrm>
          <a:prstGeom prst="rect">
            <a:avLst/>
          </a:prstGeom>
          <a:solidFill>
            <a:srgbClr val="E3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6437376"/>
            <a:ext cx="109087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 i="0">
                <a:solidFill>
                  <a:srgbClr val="5B6B7A"/>
                </a:solidFill>
                <a:latin typeface="Segoe UI"/>
              </a:rPr>
              <a:t>Evidence-Intelligence Agent · Open Agent Hackathon 2026 · Track 02 · Fylaktis Fylaktou · UCLA Semel Institute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128A98"/>
                </a:solidFill>
                <a:latin typeface="Segoe UI"/>
              </a:rPr>
              <a:t>WHAT'S UNIQUE — AND VERIFIED · TECHNICAL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 i="0">
                <a:solidFill>
                  <a:srgbClr val="14202B"/>
                </a:solidFill>
                <a:latin typeface="Segoe UI"/>
              </a:rPr>
              <a:t>Unique, and proven to 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755648"/>
            <a:ext cx="1005840" cy="50292"/>
          </a:xfrm>
          <a:prstGeom prst="rect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965960"/>
            <a:ext cx="8321040" cy="4297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301752" indent="-301752">
              <a:spcAft>
                <a:spcPts val="1200"/>
              </a:spcAft>
            </a:pPr>
            <a:r>
              <a:rPr sz="18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4202B"/>
                </a:solidFill>
                <a:latin typeface="Segoe UI"/>
              </a:rPr>
              <a:t>Claim-level citation binding.</a:t>
            </a:r>
            <a:r>
              <a:rPr sz="1800" b="0" i="0">
                <a:solidFill>
                  <a:srgbClr val="5B6B7A"/>
                </a:solidFill>
                <a:latin typeface="Segoe UI"/>
              </a:rPr>
              <a:t> Negative / absence evidence is first-class.</a:t>
            </a:r>
          </a:p>
          <a:p>
            <a:pPr marL="301752" indent="-301752">
              <a:spcAft>
                <a:spcPts val="1200"/>
              </a:spcAft>
            </a:pPr>
            <a:r>
              <a:rPr sz="18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4202B"/>
                </a:solidFill>
                <a:latin typeface="Segoe UI"/>
              </a:rPr>
              <a:t>Self-consistency gate.</a:t>
            </a:r>
            <a:r>
              <a:rPr sz="1800" b="0" i="0">
                <a:solidFill>
                  <a:srgbClr val="5B6B7A"/>
                </a:solidFill>
                <a:latin typeface="Segoe UI"/>
              </a:rPr>
              <a:t> Approvals are re-checked by independent sampled votes.</a:t>
            </a:r>
          </a:p>
          <a:p>
            <a:pPr marL="301752" indent="-301752">
              <a:spcAft>
                <a:spcPts val="1200"/>
              </a:spcAft>
            </a:pPr>
            <a:r>
              <a:rPr sz="18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4202B"/>
                </a:solidFill>
                <a:latin typeface="Segoe UI"/>
              </a:rPr>
              <a:t>H-MEM as evidence memory.</a:t>
            </a:r>
            <a:r>
              <a:rPr sz="1800" b="0" i="0">
                <a:solidFill>
                  <a:srgbClr val="5B6B7A"/>
                </a:solidFill>
                <a:latin typeface="Segoe UI"/>
              </a:rPr>
              <a:t> Mandatory source/provenance; provable Meterless receipts.</a:t>
            </a:r>
          </a:p>
          <a:p>
            <a:pPr marL="301752" indent="-301752">
              <a:spcAft>
                <a:spcPts val="1200"/>
              </a:spcAft>
            </a:pPr>
            <a:r>
              <a:rPr sz="1800" b="1" i="0">
                <a:solidFill>
                  <a:srgbClr val="128A98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4202B"/>
                </a:solidFill>
                <a:latin typeface="Segoe UI"/>
              </a:rPr>
              <a:t>Verified:</a:t>
            </a:r>
            <a:r>
              <a:rPr sz="1800" b="0" i="0">
                <a:solidFill>
                  <a:srgbClr val="5B6B7A"/>
                </a:solidFill>
                <a:latin typeface="Segoe UI"/>
              </a:rPr>
              <a:t> ruff-clean · GitHub Actions CI · 15 offline + live integration tests · eval scorecard 8/8 · SAMPLE_MODE replay.</a:t>
            </a:r>
          </a:p>
        </p:txBody>
      </p:sp>
      <p:sp>
        <p:nvSpPr>
          <p:cNvPr id="6" name="Rounded Rectangle 5"/>
          <p:cNvSpPr/>
          <p:nvPr/>
        </p:nvSpPr>
        <p:spPr>
          <a:xfrm rot="21120000">
            <a:off x="9235440" y="2286000"/>
            <a:ext cx="2286000" cy="914400"/>
          </a:xfrm>
          <a:prstGeom prst="roundRect">
            <a:avLst/>
          </a:prstGeom>
          <a:noFill/>
          <a:ln w="28575">
            <a:solidFill>
              <a:srgbClr val="128A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 i="0">
                <a:solidFill>
                  <a:srgbClr val="128A98"/>
                </a:solidFill>
                <a:latin typeface="Segoe UI"/>
              </a:rPr>
              <a:t>✓  VERIFIED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00800"/>
            <a:ext cx="10908792" cy="15240"/>
          </a:xfrm>
          <a:prstGeom prst="rect">
            <a:avLst/>
          </a:prstGeom>
          <a:solidFill>
            <a:srgbClr val="E3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437376"/>
            <a:ext cx="109087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 i="0">
                <a:solidFill>
                  <a:srgbClr val="5B6B7A"/>
                </a:solidFill>
                <a:latin typeface="Segoe UI"/>
              </a:rPr>
              <a:t>Evidence-Intelligence Agent · Open Agent Hackathon 2026 · Track 02 · Fylaktis Fylaktou · UCLA Semel Institute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0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315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1" i="0">
                <a:solidFill>
                  <a:srgbClr val="128A98"/>
                </a:solidFill>
                <a:latin typeface="Segoe UI"/>
              </a:rPr>
              <a:t>WHERE THIS GOES</a:t>
            </a:r>
          </a:p>
        </p:txBody>
      </p:sp>
      <p:sp>
        <p:nvSpPr>
          <p:cNvPr id="3" name="Rectangle 2"/>
          <p:cNvSpPr/>
          <p:nvPr/>
        </p:nvSpPr>
        <p:spPr>
          <a:xfrm>
            <a:off x="841248" y="2148840"/>
            <a:ext cx="1280160" cy="54864"/>
          </a:xfrm>
          <a:prstGeom prst="rect">
            <a:avLst/>
          </a:prstGeom>
          <a:solidFill>
            <a:srgbClr val="128A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6070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600" b="1" i="0">
                <a:solidFill>
                  <a:srgbClr val="FFFFFF"/>
                </a:solidFill>
                <a:latin typeface="Segoe UI"/>
              </a:rPr>
              <a:t>An answer you can check.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84048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0" i="0">
                <a:solidFill>
                  <a:srgbClr val="A9B7C0"/>
                </a:solidFill>
                <a:latin typeface="Segoe UI"/>
              </a:rPr>
              <a:t>Next: richer indication signals · more conditions &amp; sources · a multi-judge panel — trustworthy, auditable AI for clinical evidence.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4360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00" b="0" i="0">
                <a:solidFill>
                  <a:srgbClr val="A9B7C0"/>
                </a:solidFill>
                <a:latin typeface="Segoe UI"/>
              </a:rPr>
              <a:t>Fylaktis Fylaktou · UCLA Semel Institute · Open Agent Hackathon 2026 · Track 02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