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28A98"/>
                </a:solidFill>
                <a:latin typeface="Segoe UI"/>
              </a:rPr>
              <a:t>OPEN AGENT HACKATHON 2026 · TRACK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2240280"/>
            <a:ext cx="128016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The Agent That Can Explain Why</a:t>
            </a:r>
          </a:p>
          <a:p>
            <a:pPr>
              <a:spcBef>
                <a:spcPts val="1400"/>
              </a:spcBef>
            </a:pPr>
            <a:r>
              <a:rPr sz="2000" b="0" i="0">
                <a:solidFill>
                  <a:srgbClr val="A9B7C0"/>
                </a:solidFill>
                <a:latin typeface="Segoe UI"/>
              </a:rPr>
              <a:t>An evidence-intelligence agent: it grounds every clinical claim in real data — and deletes the ones it can't prove.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0644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A9B7C0"/>
                </a:solidFill>
                <a:latin typeface="Segoe UI"/>
              </a:rPr>
              <a:t>Fylaktis Fylaktou · UCLA Semel Institute      Zetaris · Meterless · NVIDIA Nemotron · Cursor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PROBLEM ·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Confident, uncited, and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88136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LLMs fabricate clinical citations.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Published studies report 19.9–91% inaccurate or invented references.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An unverifiable answer is worse than none.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In medicine and regulation you must know what's grounded.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Evidence synthesis is slow.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Reconciling trial registries against device clearances is manual and costly.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Users: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clinical &amp; regulatory evidence teams, pharma competitive-intelligence, researchers — who need an auditable answer, not a chatbot guess.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DEMO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14400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 i="1">
                <a:solidFill>
                  <a:srgbClr val="14202B"/>
                </a:solidFill>
                <a:latin typeface="Segoe UI"/>
              </a:rPr>
              <a:t>“What neuromodulation is being trialed for anorexia nervosa, and is any of it FDA-cleared for that use?”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5B6B7A"/>
                </a:solidFill>
                <a:latin typeface="Segoe UI"/>
              </a:rPr>
              <a:t>A real cross-source question where the honest answer is nuanced — and easy to get confidently wrong.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Grounded answers, with receipts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54406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Grounded, not guessed.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Gathers governed evidence and cites the exact SQL behind every claim.</a:t>
            </a:r>
          </a:p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An Evaluator that deletes what it can't back.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Each claim is re-checked against only its own evidence.</a:t>
            </a:r>
          </a:p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Honest scope.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Affirms the scoped conclusion; rejects the over-claim “rTMS is FDA-cleared for anorexia.”</a:t>
            </a:r>
          </a:p>
        </p:txBody>
      </p:sp>
      <p:pic>
        <p:nvPicPr>
          <p:cNvPr id="6" name="Picture 5" descr="ui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11680"/>
            <a:ext cx="3954213" cy="4160520"/>
          </a:xfrm>
          <a:prstGeom prst="rect">
            <a:avLst/>
          </a:prstGeom>
          <a:ln w="12700">
            <a:solidFill>
              <a:srgbClr val="E3E9EF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ARCHITECTURE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A real agent, not 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011680" y="2176272"/>
            <a:ext cx="2743200" cy="2596896"/>
          </a:xfrm>
          <a:prstGeom prst="roundRect">
            <a:avLst/>
          </a:prstGeom>
          <a:solidFill>
            <a:srgbClr val="F6F9FB"/>
          </a:solidFill>
          <a:ln>
            <a:solidFill>
              <a:srgbClr val="BFCF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1943100" y="2651760"/>
            <a:ext cx="251460" cy="822960"/>
          </a:xfrm>
          <a:prstGeom prst="line">
            <a:avLst/>
          </a:prstGeom>
          <a:ln w="22225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943100" y="3474720"/>
            <a:ext cx="251460" cy="0"/>
          </a:xfrm>
          <a:prstGeom prst="line">
            <a:avLst/>
          </a:prstGeom>
          <a:ln w="22225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43100" y="3474720"/>
            <a:ext cx="251460" cy="822960"/>
          </a:xfrm>
          <a:prstGeom prst="line">
            <a:avLst/>
          </a:prstGeom>
          <a:ln w="22225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651760"/>
            <a:ext cx="914400" cy="822960"/>
          </a:xfrm>
          <a:prstGeom prst="line">
            <a:avLst/>
          </a:prstGeom>
          <a:ln w="22225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572000" y="3474720"/>
            <a:ext cx="914400" cy="0"/>
          </a:xfrm>
          <a:prstGeom prst="line">
            <a:avLst/>
          </a:prstGeom>
          <a:ln w="22225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572000" y="3474720"/>
            <a:ext cx="914400" cy="822960"/>
          </a:xfrm>
          <a:prstGeom prst="line">
            <a:avLst/>
          </a:prstGeom>
          <a:ln w="22225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949440" y="3474720"/>
            <a:ext cx="525780" cy="0"/>
          </a:xfrm>
          <a:prstGeom prst="line">
            <a:avLst/>
          </a:prstGeom>
          <a:ln w="25400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Arrow 12"/>
          <p:cNvSpPr/>
          <p:nvPr/>
        </p:nvSpPr>
        <p:spPr>
          <a:xfrm>
            <a:off x="9011411" y="3383279"/>
            <a:ext cx="356616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10149840" y="2628899"/>
            <a:ext cx="0" cy="411480"/>
          </a:xfrm>
          <a:prstGeom prst="line">
            <a:avLst/>
          </a:prstGeom>
          <a:ln w="28575">
            <a:solidFill>
              <a:srgbClr val="B88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8229600" y="2628899"/>
            <a:ext cx="1920240" cy="0"/>
          </a:xfrm>
          <a:prstGeom prst="line">
            <a:avLst/>
          </a:prstGeom>
          <a:ln w="28575">
            <a:solidFill>
              <a:srgbClr val="B88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229600" y="2628899"/>
            <a:ext cx="0" cy="411480"/>
          </a:xfrm>
          <a:prstGeom prst="line">
            <a:avLst/>
          </a:prstGeom>
          <a:ln w="28575">
            <a:solidFill>
              <a:srgbClr val="B884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34340" y="3040379"/>
            <a:ext cx="150876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14202B"/>
                </a:solidFill>
                <a:latin typeface="Segoe UI"/>
              </a:rPr>
              <a:t>Planner</a:t>
            </a:r>
          </a:p>
          <a:p>
            <a:pPr algn="ctr"/>
            <a:r>
              <a:rPr sz="900" b="0" i="0">
                <a:solidFill>
                  <a:srgbClr val="5B6B7A"/>
                </a:solidFill>
                <a:latin typeface="Segoe UI"/>
              </a:rPr>
              <a:t>decompose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94560" y="2322576"/>
            <a:ext cx="237744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14202B"/>
                </a:solidFill>
                <a:latin typeface="Segoe UI"/>
              </a:rPr>
              <a:t>Analyst</a:t>
            </a:r>
          </a:p>
          <a:p>
            <a:pPr algn="ctr"/>
            <a:r>
              <a:rPr sz="850" b="0" i="0">
                <a:solidFill>
                  <a:srgbClr val="5B6B7A"/>
                </a:solidFill>
                <a:latin typeface="Segoe UI"/>
              </a:rPr>
              <a:t>sub-question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3145536"/>
            <a:ext cx="237744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14202B"/>
                </a:solidFill>
                <a:latin typeface="Segoe UI"/>
              </a:rPr>
              <a:t>Analyst</a:t>
            </a:r>
          </a:p>
          <a:p>
            <a:pPr algn="ctr"/>
            <a:r>
              <a:rPr sz="850" b="0" i="0">
                <a:solidFill>
                  <a:srgbClr val="5B6B7A"/>
                </a:solidFill>
                <a:latin typeface="Segoe UI"/>
              </a:rPr>
              <a:t>sub-question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94560" y="3968496"/>
            <a:ext cx="237744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14202B"/>
                </a:solidFill>
                <a:latin typeface="Segoe UI"/>
              </a:rPr>
              <a:t>cross_source</a:t>
            </a:r>
          </a:p>
          <a:p>
            <a:pPr algn="ctr"/>
            <a:r>
              <a:rPr sz="850" b="0" i="0">
                <a:solidFill>
                  <a:srgbClr val="5B6B7A"/>
                </a:solidFill>
                <a:latin typeface="Segoe UI"/>
              </a:rPr>
              <a:t>trialed × cleared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2880360"/>
            <a:ext cx="1463040" cy="1188720"/>
          </a:xfrm>
          <a:prstGeom prst="roundRect">
            <a:avLst/>
          </a:prstGeom>
          <a:solidFill>
            <a:srgbClr val="FDF3E3"/>
          </a:solidFill>
          <a:ln w="19050">
            <a:solidFill>
              <a:srgbClr val="B88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B8842A"/>
                </a:solidFill>
                <a:latin typeface="Segoe UI"/>
              </a:rPr>
              <a:t>H-MEM</a:t>
            </a:r>
          </a:p>
          <a:p>
            <a:pPr algn="ctr"/>
            <a:r>
              <a:rPr sz="800" b="0" i="0">
                <a:solidFill>
                  <a:srgbClr val="5B6B7A"/>
                </a:solidFill>
                <a:latin typeface="Segoe UI"/>
              </a:rPr>
              <a:t>shared evidence · provenance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75220" y="3040379"/>
            <a:ext cx="150876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14202B"/>
                </a:solidFill>
                <a:latin typeface="Segoe UI"/>
              </a:rPr>
              <a:t>Reporter</a:t>
            </a:r>
          </a:p>
          <a:p>
            <a:pPr algn="ctr"/>
            <a:r>
              <a:rPr sz="900" b="0" i="0">
                <a:solidFill>
                  <a:srgbClr val="5B6B7A"/>
                </a:solidFill>
                <a:latin typeface="Segoe UI"/>
              </a:rPr>
              <a:t>cite claims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95460" y="3040379"/>
            <a:ext cx="1508760" cy="868680"/>
          </a:xfrm>
          <a:prstGeom prst="roundRect">
            <a:avLst/>
          </a:prstGeom>
          <a:solidFill>
            <a:srgbClr val="128A98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Evaluator</a:t>
            </a:r>
          </a:p>
          <a:p>
            <a:pPr algn="ctr"/>
            <a:r>
              <a:rPr sz="900" b="0" i="0">
                <a:solidFill>
                  <a:srgbClr val="DDF0F2"/>
                </a:solidFill>
                <a:latin typeface="Segoe UI"/>
              </a:rPr>
              <a:t>verify / reject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184708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128A98"/>
                </a:solidFill>
                <a:latin typeface="Segoe UI"/>
              </a:rPr>
              <a:t>sub-questions · in parallel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9560" y="2391155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B8842A"/>
                </a:solidFill>
                <a:latin typeface="Segoe UI"/>
              </a:rPr>
              <a:t>✗ revise (≤ MAX_ROUNDS)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B6B7A"/>
                </a:solidFill>
                <a:latin typeface="Segoe UI"/>
              </a:rPr>
              <a:t>Planner fans out into parallel gatherer agents that write to shared memory; Reporter &amp; Evaluator read it, and the Evaluator loops rejections back to revise.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The reconciliation is the insight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40280"/>
            <a:ext cx="512064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Trialed — ClinicalTrials.gov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tDCS · theta-burst · deep-brain stimulation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24 device trial-arms for anorexia nervosa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40280"/>
            <a:ext cx="5120640" cy="54864"/>
          </a:xfrm>
          <a:prstGeom prst="rect">
            <a:avLst/>
          </a:prstGeom>
          <a:solidFill>
            <a:srgbClr val="B8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Cleared — openFDA 510(k)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25 cleared transcranial neuro-devices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specialties: Neurology · Cardiology · Radiology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none reference anorexia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C0392B"/>
                </a:solidFill>
                <a:latin typeface="Segoe UI"/>
              </a:rPr>
              <a:t>Trialed ≠ cleared.  </a:t>
            </a:r>
            <a:r>
              <a:rPr sz="1800" b="0" i="0">
                <a:solidFill>
                  <a:srgbClr val="14202B"/>
                </a:solidFill>
                <a:latin typeface="Segoe UI"/>
              </a:rPr>
              <a:t>The agent surfaces the gap explicitly — that reconciliation is the answer.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E25C4D"/>
                </a:solidFill>
                <a:latin typeface="Segoe UI"/>
              </a:rPr>
              <a:t>THE INTEGRITY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Segoe UI"/>
              </a:rPr>
              <a:t>It deletes what it can't prove.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10512"/>
            <a:ext cx="1005840" cy="50292"/>
          </a:xfrm>
          <a:prstGeom prst="rect">
            <a:avLst/>
          </a:prstGeom>
          <a:solidFill>
            <a:srgbClr val="E2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i="0">
                <a:solidFill>
                  <a:srgbClr val="A9B7C0"/>
                </a:solidFill>
                <a:latin typeface="Segoe UI"/>
              </a:rPr>
              <a:t>The agent was handed a plausible, false claim: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700" b="1" i="0" strike="sngStrike">
                <a:solidFill>
                  <a:srgbClr val="A9B7C0"/>
                </a:solidFill>
                <a:latin typeface="Segoe UI"/>
              </a:rPr>
              <a:t>rTMS is FDA-cleared to treat anorexia nervosa</a:t>
            </a:r>
          </a:p>
        </p:txBody>
      </p:sp>
      <p:sp>
        <p:nvSpPr>
          <p:cNvPr id="7" name="Rounded Rectangle 6"/>
          <p:cNvSpPr/>
          <p:nvPr/>
        </p:nvSpPr>
        <p:spPr>
          <a:xfrm rot="21060000">
            <a:off x="8915400" y="2788920"/>
            <a:ext cx="2514600" cy="960120"/>
          </a:xfrm>
          <a:prstGeom prst="roundRect">
            <a:avLst/>
          </a:prstGeom>
          <a:noFill/>
          <a:ln w="28575">
            <a:solidFill>
              <a:srgbClr val="E25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E25C4D"/>
                </a:solidFill>
                <a:latin typeface="Segoe UI"/>
              </a:rPr>
              <a:t>✗  UNSUPPORTED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052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DDE6EB"/>
                </a:solidFill>
                <a:latin typeface="Segoe UI"/>
              </a:rPr>
              <a:t>The cited records show those devices are cleared — but not one references anorexia. Unsupported, so the agent refuses to say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128A98"/>
                </a:solidFill>
                <a:latin typeface="Segoe UI"/>
              </a:rPr>
              <a:t>Every rejection ships with its reason — that is the “why.”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SPONSOR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Built on the sponsor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2688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zeta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583" y="2148840"/>
            <a:ext cx="1810511" cy="50291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568446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terl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137" y="2148840"/>
            <a:ext cx="502919" cy="5029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4204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vid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083" y="2208427"/>
            <a:ext cx="2050542" cy="3837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39961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urs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6653" y="2148840"/>
            <a:ext cx="502919" cy="50291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3108960"/>
            <a:ext cx="10881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Zetaris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governed SQL data layer; read-only guard; a cross-source join of two disconnected registries.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Meterless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H-MEM evidence engine + Nightshift provider; every model call returns a signed receipt.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NVIDIA Nemotron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pinned reasoning model (nemotron-3.5-lightning-30b-a3b); it does the adjudication.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Cursor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dev environment; its Composer agent built the /healthz stack-health endpoint.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Telemetry per run: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26 Meterless-routed calls · 46,989 tokens · signed receipts.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WHAT'S UNIQUE — AND VERIFIED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Unique, and proven to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832104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Claim-level citation binding.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Negative / absence evidence is first-class.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Self-consistency gate.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Approvals are re-checked by independent sampled votes.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H-MEM as evidence memory.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Mandatory source/provenance; provable Meterless receipts.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Verified: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ruff-clean · GitHub Actions CI · 15 offline + live integration tests · eval scorecard 8/8 · SAMPLE_MODE replay.</a:t>
            </a:r>
          </a:p>
        </p:txBody>
      </p:sp>
      <p:sp>
        <p:nvSpPr>
          <p:cNvPr id="6" name="Rounded Rectangle 5"/>
          <p:cNvSpPr/>
          <p:nvPr/>
        </p:nvSpPr>
        <p:spPr>
          <a:xfrm rot="21120000">
            <a:off x="9235440" y="2286000"/>
            <a:ext cx="2286000" cy="914400"/>
          </a:xfrm>
          <a:prstGeom prst="roundRect">
            <a:avLst/>
          </a:prstGeom>
          <a:noFill/>
          <a:ln w="28575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28A98"/>
                </a:solidFill>
                <a:latin typeface="Segoe UI"/>
              </a:rPr>
              <a:t>✓  VERIFIED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WHERE THIS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2148840"/>
            <a:ext cx="128016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An answer you can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A9B7C0"/>
                </a:solidFill>
                <a:latin typeface="Segoe UI"/>
              </a:rPr>
              <a:t>Next: richer indication signals · more conditions &amp; sources · a multi-judge panel — trustworthy, auditable AI for clinical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A9B7C0"/>
                </a:solidFill>
                <a:latin typeface="Segoe UI"/>
              </a:rPr>
              <a:t>Fylaktis Fylaktou · UCLA Semel Institute · Open Agent Hackathon 2026 · Track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