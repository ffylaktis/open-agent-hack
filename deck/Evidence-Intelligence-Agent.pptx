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128A98"/>
                </a:solidFill>
                <a:latin typeface="Segoe UI"/>
              </a:rPr>
              <a:t>OPEN AGENT HACKATHON 2026 · TRACK 02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2240280"/>
            <a:ext cx="128016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600" b="1" i="0">
                <a:solidFill>
                  <a:srgbClr val="FFFFFF"/>
                </a:solidFill>
                <a:latin typeface="Segoe UI"/>
              </a:rPr>
              <a:t>The Agent That Can Explain Why</a:t>
            </a:r>
          </a:p>
          <a:p>
            <a:pPr>
              <a:spcBef>
                <a:spcPts val="1400"/>
              </a:spcBef>
            </a:pPr>
            <a:r>
              <a:rPr sz="2000" b="0" i="0">
                <a:solidFill>
                  <a:srgbClr val="A9B7C0"/>
                </a:solidFill>
                <a:latin typeface="Segoe UI"/>
              </a:rPr>
              <a:t>An evidence-intelligence agent: it grounds every clinical claim in real data — and deletes the ones it can't prove.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0644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A9B7C0"/>
                </a:solidFill>
                <a:latin typeface="Segoe UI"/>
              </a:rPr>
              <a:t>Fylaktis Fylaktou · UCLA Semel Institute      Zetaris · Meterless · NVIDIA Nemotron · Cursor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PROBLEM ·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Confident, uncited, and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8813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LLMs fabricate clinical citations.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Published studies report 19.9–91% inaccurate or invented references.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An unverifiable answer is worse than none.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In medicine and regulation you must know what's grounded.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Evidence synthesis is slow.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Reconciling trial registries against device clearances is manual and costly.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Users: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clinical &amp; regulatory evidence teams, pharma competitive-intelligence, researchers — who need an auditable answer, not a chatbot guess.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DEMO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14400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 i="1">
                <a:solidFill>
                  <a:srgbClr val="14202B"/>
                </a:solidFill>
                <a:latin typeface="Segoe UI"/>
              </a:rPr>
              <a:t>“What neuromodulation is being trialed for anorexia nervosa, and is any of it FDA-cleared for that use?”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5B6B7A"/>
                </a:solidFill>
                <a:latin typeface="Segoe UI"/>
              </a:rPr>
              <a:t>A real cross-source question where the honest answer is nuanced — and easy to get confidently wrong.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Grounded answers, with receipts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54406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600"/>
              </a:spcAft>
            </a:pPr>
            <a:r>
              <a:rPr sz="17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4202B"/>
                </a:solidFill>
                <a:latin typeface="Segoe UI"/>
              </a:rPr>
              <a:t>Grounded, not guessed.</a:t>
            </a:r>
            <a:r>
              <a:rPr sz="1700" b="0" i="0">
                <a:solidFill>
                  <a:srgbClr val="5B6B7A"/>
                </a:solidFill>
                <a:latin typeface="Segoe UI"/>
              </a:rPr>
              <a:t> Gathers governed evidence and cites the exact SQL behind every claim.</a:t>
            </a:r>
          </a:p>
          <a:p>
            <a:pPr marL="301752" indent="-301752">
              <a:spcAft>
                <a:spcPts val="1600"/>
              </a:spcAft>
            </a:pPr>
            <a:r>
              <a:rPr sz="17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4202B"/>
                </a:solidFill>
                <a:latin typeface="Segoe UI"/>
              </a:rPr>
              <a:t>An Evaluator that deletes what it can't back.</a:t>
            </a:r>
            <a:r>
              <a:rPr sz="1700" b="0" i="0">
                <a:solidFill>
                  <a:srgbClr val="5B6B7A"/>
                </a:solidFill>
                <a:latin typeface="Segoe UI"/>
              </a:rPr>
              <a:t> Each claim is re-checked against only its own evidence.</a:t>
            </a:r>
          </a:p>
          <a:p>
            <a:pPr marL="301752" indent="-301752">
              <a:spcAft>
                <a:spcPts val="1600"/>
              </a:spcAft>
            </a:pPr>
            <a:r>
              <a:rPr sz="17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4202B"/>
                </a:solidFill>
                <a:latin typeface="Segoe UI"/>
              </a:rPr>
              <a:t>Honest scope.</a:t>
            </a:r>
            <a:r>
              <a:rPr sz="1700" b="0" i="0">
                <a:solidFill>
                  <a:srgbClr val="5B6B7A"/>
                </a:solidFill>
                <a:latin typeface="Segoe UI"/>
              </a:rPr>
              <a:t> Affirms the scoped conclusion; rejects the over-claim “rTMS is FDA-cleared for anorexia.”</a:t>
            </a:r>
          </a:p>
        </p:txBody>
      </p:sp>
      <p:pic>
        <p:nvPicPr>
          <p:cNvPr id="6" name="Picture 5" descr="ui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011680"/>
            <a:ext cx="3384331" cy="4160520"/>
          </a:xfrm>
          <a:prstGeom prst="rect">
            <a:avLst/>
          </a:prstGeom>
          <a:ln w="12700">
            <a:solidFill>
              <a:srgbClr val="E3E9EF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ARCHITECTURE · TECHNICAL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A real agent, not a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514600"/>
            <a:ext cx="1875068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4202B"/>
                </a:solidFill>
                <a:latin typeface="Segoe UI"/>
              </a:rPr>
              <a:t>Planner</a:t>
            </a:r>
          </a:p>
          <a:p>
            <a:pPr algn="ctr"/>
            <a:r>
              <a:rPr sz="950" b="0" i="0">
                <a:solidFill>
                  <a:srgbClr val="5B6B7A"/>
                </a:solidFill>
                <a:latin typeface="Segoe UI"/>
              </a:rPr>
              <a:t>decompose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33436" y="2994660"/>
            <a:ext cx="347472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99196" y="2514600"/>
            <a:ext cx="1875068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4202B"/>
                </a:solidFill>
                <a:latin typeface="Segoe UI"/>
              </a:rPr>
              <a:t>Analyst</a:t>
            </a:r>
          </a:p>
          <a:p>
            <a:pPr algn="ctr"/>
            <a:r>
              <a:rPr sz="950" b="0" i="0">
                <a:solidFill>
                  <a:srgbClr val="5B6B7A"/>
                </a:solidFill>
                <a:latin typeface="Segoe UI"/>
              </a:rPr>
              <a:t>SQL → evidence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92553" y="2994660"/>
            <a:ext cx="347472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58313" y="2514600"/>
            <a:ext cx="1875068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4202B"/>
                </a:solidFill>
                <a:latin typeface="Segoe UI"/>
              </a:rPr>
              <a:t>cross_source</a:t>
            </a:r>
          </a:p>
          <a:p>
            <a:pPr algn="ctr"/>
            <a:r>
              <a:rPr sz="950" b="0" i="0">
                <a:solidFill>
                  <a:srgbClr val="5B6B7A"/>
                </a:solidFill>
                <a:latin typeface="Segoe UI"/>
              </a:rPr>
              <a:t>trialed × cleared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51669" y="2994660"/>
            <a:ext cx="347472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17429" y="2514600"/>
            <a:ext cx="1875068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4202B"/>
                </a:solidFill>
                <a:latin typeface="Segoe UI"/>
              </a:rPr>
              <a:t>Reporter</a:t>
            </a:r>
          </a:p>
          <a:p>
            <a:pPr algn="ctr"/>
            <a:r>
              <a:rPr sz="950" b="0" i="0">
                <a:solidFill>
                  <a:srgbClr val="5B6B7A"/>
                </a:solidFill>
                <a:latin typeface="Segoe UI"/>
              </a:rPr>
              <a:t>cite claims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10786" y="2994660"/>
            <a:ext cx="347472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76546" y="2514600"/>
            <a:ext cx="1875068" cy="1143000"/>
          </a:xfrm>
          <a:prstGeom prst="round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Evaluator</a:t>
            </a:r>
          </a:p>
          <a:p>
            <a:pPr algn="ctr"/>
            <a:r>
              <a:rPr sz="950" b="0" i="0">
                <a:solidFill>
                  <a:srgbClr val="DDF0F2"/>
                </a:solidFill>
                <a:latin typeface="Segoe UI"/>
              </a:rPr>
              <a:t>verify / reject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>
                <a:solidFill>
                  <a:srgbClr val="B8842A"/>
                </a:solidFill>
                <a:latin typeface="Segoe UI"/>
              </a:rPr>
              <a:t>↩  Feedback loop:  </a:t>
            </a:r>
            <a:r>
              <a:rPr sz="1500" b="0" i="0">
                <a:solidFill>
                  <a:srgbClr val="14202B"/>
                </a:solidFill>
                <a:latin typeface="Segoe UI"/>
              </a:rPr>
              <a:t>the Evaluator bounces any unsupported claim back to the Analyst (≤ MAX_ROUNDS); survivors must pass a self-consistency gate.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2920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i="0">
                <a:solidFill>
                  <a:srgbClr val="5B6B7A"/>
                </a:solidFill>
                <a:latin typeface="Segoe UI"/>
              </a:rPr>
              <a:t>Specialized roles · separate Nemotron calls · shared H-MEM evidence memory · full trace + signed Meterless receipts.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INNOVATION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The reconciliation is the insight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40280"/>
            <a:ext cx="512064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14202B"/>
                </a:solidFill>
                <a:latin typeface="Segoe UI"/>
              </a:rPr>
              <a:t>Trialed — ClinicalTrials.gov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5120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128A98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tDCS · theta-burst · deep-brain stimulation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128A98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24 device trial-arms for anorexia nervosa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240280"/>
            <a:ext cx="5120640" cy="54864"/>
          </a:xfrm>
          <a:prstGeom prst="rect">
            <a:avLst/>
          </a:prstGeom>
          <a:solidFill>
            <a:srgbClr val="B8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3774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14202B"/>
                </a:solidFill>
                <a:latin typeface="Segoe UI"/>
              </a:rPr>
              <a:t>Cleared — openFDA 510(k)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971800"/>
            <a:ext cx="5120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25 cleared transcranial neuro-devices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specialties: Neurology · Cardiology · Radiology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none reference anorexia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C0392B"/>
                </a:solidFill>
                <a:latin typeface="Segoe UI"/>
              </a:rPr>
              <a:t>Trialed ≠ cleared.  </a:t>
            </a:r>
            <a:r>
              <a:rPr sz="1800" b="0" i="0">
                <a:solidFill>
                  <a:srgbClr val="14202B"/>
                </a:solidFill>
                <a:latin typeface="Segoe UI"/>
              </a:rPr>
              <a:t>The agent surfaces the gap explicitly — that reconciliation is the answer.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C0392B"/>
                </a:solidFill>
                <a:latin typeface="Segoe UI"/>
              </a:rPr>
              <a:t>THE INTEGRITY MOMENT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It rejects what it can't prove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54406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400"/>
              </a:spcAft>
            </a:pPr>
            <a:r>
              <a:rPr sz="1600" b="1" i="0">
                <a:solidFill>
                  <a:srgbClr val="C0392B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14202B"/>
                </a:solidFill>
                <a:latin typeface="Segoe UI"/>
              </a:rPr>
              <a:t>Rejected:</a:t>
            </a:r>
            <a:r>
              <a:rPr sz="1600" b="0" i="0">
                <a:solidFill>
                  <a:srgbClr val="5B6B7A"/>
                </a:solidFill>
                <a:latin typeface="Segoe UI"/>
              </a:rPr>
              <a:t> “rTMS is FDA-cleared to treat anorexia nervosa” — the devices are cleared, but no record references anorexia.</a:t>
            </a:r>
          </a:p>
          <a:p>
            <a:pPr marL="301752" indent="-301752">
              <a:spcAft>
                <a:spcPts val="1400"/>
              </a:spcAft>
            </a:pPr>
            <a:r>
              <a:rPr sz="1600" b="1" i="0">
                <a:solidFill>
                  <a:srgbClr val="C0392B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14202B"/>
                </a:solidFill>
                <a:latin typeface="Segoe UI"/>
              </a:rPr>
              <a:t>Rejected:</a:t>
            </a:r>
            <a:r>
              <a:rPr sz="1600" b="0" i="0">
                <a:solidFill>
                  <a:srgbClr val="5B6B7A"/>
                </a:solidFill>
                <a:latin typeface="Segoe UI"/>
              </a:rPr>
              <a:t> over-broad universal negatives — scoped down to exactly what was searched.</a:t>
            </a:r>
          </a:p>
          <a:p>
            <a:pPr marL="301752" indent="-301752">
              <a:spcAft>
                <a:spcPts val="1400"/>
              </a:spcAft>
            </a:pPr>
            <a:r>
              <a:rPr sz="1600" b="1" i="0">
                <a:solidFill>
                  <a:srgbClr val="C0392B"/>
                </a:solidFill>
                <a:latin typeface="Segoe UI"/>
              </a:rPr>
              <a:t>▸  </a:t>
            </a:r>
            <a:r>
              <a:rPr sz="1600" b="1" i="0">
                <a:solidFill>
                  <a:srgbClr val="14202B"/>
                </a:solidFill>
                <a:latin typeface="Segoe UI"/>
              </a:rPr>
              <a:t>Every rejection carries the Evaluator's reason.</a:t>
            </a:r>
            <a:r>
              <a:rPr sz="1600" b="0" i="0">
                <a:solidFill>
                  <a:srgbClr val="5B6B7A"/>
                </a:solidFill>
                <a:latin typeface="Segoe UI"/>
              </a:rPr>
              <a:t> The anti-hallucination story, made visible.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46520" y="201168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1">
                <a:solidFill>
                  <a:srgbClr val="5B6B7A"/>
                </a:solidFill>
                <a:latin typeface="Segoe UI"/>
              </a:rPr>
              <a:t>The Evaluator's actual output (live UI):</a:t>
            </a:r>
          </a:p>
        </p:txBody>
      </p:sp>
      <p:pic>
        <p:nvPicPr>
          <p:cNvPr id="7" name="Picture 6" descr="ui_rej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331720"/>
            <a:ext cx="5120640" cy="2309853"/>
          </a:xfrm>
          <a:prstGeom prst="rect">
            <a:avLst/>
          </a:prstGeom>
          <a:ln w="12700">
            <a:solidFill>
              <a:srgbClr val="E3E9EF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SPONSOR 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Built on the sponsor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8813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Zetaris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— governed SQL data layer; read-only guard; a cross-source join of two disconnected registries.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Meterless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— H-MEM evidence engine + Nightshift provider; every model call returns a signed receipt.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NVIDIA Nemotron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— pinned reasoning model (nemotron-3.5-lightning-30b-a3b); it does the adjudication.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Cursor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— development environment.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Telemetry per run: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24 Meterless-routed calls · 41,480 tokens · signed receipts.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WHAT'S UNIQUE — AND VERIFIED · TECHNICAL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Unique, and proven to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8813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Claim-level citation binding.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Negative / absence evidence is first-class.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Self-consistency gate.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Approvals are re-checked by independent sampled votes.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H-MEM as evidence memory.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Mandatory source/provenance; provable Meterless receipts.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Verified: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ruff-clean · GitHub Actions CI · 15 offline + live integration tests · eval scorecard 8/8 · SAMPLE_MODE replay.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WHERE THIS GOES · FUTURE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Where this goes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8813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Richer indication signal.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Device classification + product codes; more conditions and sources.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Deeper adjudication.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Multi-judge panel; live on-demand source registration.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The direction medical AI has to go: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trustworthy, auditable, grounded — an answer you can check.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