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pic>
        <p:nvPicPr>
          <p:cNvPr id="6" name="Picture 5" descr="u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3384331" cy="4160520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6716521" y="2888181"/>
            <a:ext cx="1861432" cy="509143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8793600" y="4341084"/>
            <a:ext cx="169060" cy="195883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4573748" y="5298424"/>
            <a:ext cx="2666551" cy="0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813353" y="4424152"/>
            <a:ext cx="169060" cy="195883"/>
          </a:xfrm>
          <a:prstGeom prst="line">
            <a:avLst/>
          </a:prstGeom>
          <a:ln w="25400">
            <a:solidFill>
              <a:srgbClr val="128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312475" y="4711500"/>
            <a:ext cx="169060" cy="195882"/>
          </a:xfrm>
          <a:prstGeom prst="line">
            <a:avLst/>
          </a:prstGeom>
          <a:ln w="28575">
            <a:solidFill>
              <a:srgbClr val="B884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60620" y="2249424"/>
            <a:ext cx="178308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56615" y="3260359"/>
            <a:ext cx="178308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SQL → evidence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44871" y="4896088"/>
            <a:ext cx="178308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76368" y="4896088"/>
            <a:ext cx="1783080" cy="8046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4624" y="3260359"/>
            <a:ext cx="1783080" cy="804672"/>
          </a:xfrm>
          <a:prstGeom prst="round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0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3712463"/>
            <a:ext cx="1920240" cy="804672"/>
          </a:xfrm>
          <a:prstGeom prst="roundRect">
            <a:avLst/>
          </a:prstGeom>
          <a:solidFill>
            <a:srgbClr val="FDF3E3"/>
          </a:solidFill>
          <a:ln w="15875">
            <a:solidFill>
              <a:srgbClr val="B88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B8842A"/>
                </a:solidFill>
                <a:latin typeface="Segoe UI"/>
              </a:rPr>
              <a:t>H-MEM</a:t>
            </a:r>
          </a:p>
          <a:p>
            <a:pPr algn="ctr"/>
            <a:r>
              <a:rPr sz="850" b="0" i="0">
                <a:solidFill>
                  <a:srgbClr val="5B6B7A"/>
                </a:solidFill>
                <a:latin typeface="Segoe UI"/>
              </a:rPr>
              <a:t>shared evidence · provenance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89204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B8842A"/>
                </a:solidFill>
                <a:latin typeface="Segoe UI"/>
              </a:rPr>
              <a:t>✗ revise &amp; re-cite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Segoe UI"/>
              </a:rPr>
              <a:t>A cycle, not a line — specialized roles · separate Nemotron calls · the Evaluator loops unsupported claims back (≤ MAX_ROUNDS) and ships only when every claim is backed.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25C4D"/>
                </a:solidFill>
                <a:latin typeface="Segoe UI"/>
              </a:rPr>
              <a:t>THE INTEGRITY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Segoe UI"/>
              </a:rPr>
              <a:t>It deletes what it can't prove.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10512"/>
            <a:ext cx="1005840" cy="50292"/>
          </a:xfrm>
          <a:prstGeom prst="rect">
            <a:avLst/>
          </a:prstGeom>
          <a:solidFill>
            <a:srgbClr val="E2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A9B7C0"/>
                </a:solidFill>
                <a:latin typeface="Segoe UI"/>
              </a:rPr>
              <a:t>The agent was handed a plausible, false claim: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 i="0" strike="sngStrike">
                <a:solidFill>
                  <a:srgbClr val="A9B7C0"/>
                </a:solidFill>
                <a:latin typeface="Segoe UI"/>
              </a:rPr>
              <a:t>rTMS is FDA-cleared to treat anorexia nervosa</a:t>
            </a:r>
          </a:p>
        </p:txBody>
      </p:sp>
      <p:sp>
        <p:nvSpPr>
          <p:cNvPr id="7" name="Rounded Rectangle 6"/>
          <p:cNvSpPr/>
          <p:nvPr/>
        </p:nvSpPr>
        <p:spPr>
          <a:xfrm rot="21060000">
            <a:off x="8915400" y="2788920"/>
            <a:ext cx="2514600" cy="960120"/>
          </a:xfrm>
          <a:prstGeom prst="roundRect">
            <a:avLst/>
          </a:prstGeom>
          <a:noFill/>
          <a:ln w="28575">
            <a:solidFill>
              <a:srgbClr val="E25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E25C4D"/>
                </a:solidFill>
                <a:latin typeface="Segoe UI"/>
              </a:rPr>
              <a:t>✗  UNSUPPORTED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DDE6EB"/>
                </a:solidFill>
                <a:latin typeface="Segoe UI"/>
              </a:rPr>
              <a:t>The cited records show those devices are cleared — but not one references anorexia. Unsupported, so the agent refuses to say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28A98"/>
                </a:solidFill>
                <a:latin typeface="Segoe UI"/>
              </a:rPr>
              <a:t>Every rejection ships with its reason — that is the “why.”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zeta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583" y="2148840"/>
            <a:ext cx="1810511" cy="5029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68446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erl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137" y="2148840"/>
            <a:ext cx="502919" cy="502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4204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vid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083" y="2208427"/>
            <a:ext cx="2050542" cy="3837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39961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urs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6653" y="2148840"/>
            <a:ext cx="502919" cy="5029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3108960"/>
            <a:ext cx="10881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832104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ounded Rectangle 5"/>
          <p:cNvSpPr/>
          <p:nvPr/>
        </p:nvSpPr>
        <p:spPr>
          <a:xfrm rot="21120000">
            <a:off x="9235440" y="2286000"/>
            <a:ext cx="2286000" cy="914400"/>
          </a:xfrm>
          <a:prstGeom prst="roundRect">
            <a:avLst/>
          </a:prstGeom>
          <a:noFill/>
          <a:ln w="28575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28A98"/>
                </a:solidFill>
                <a:latin typeface="Segoe UI"/>
              </a:rPr>
              <a:t>✓  VERIFIED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14884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An answer you can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A9B7C0"/>
                </a:solidFill>
                <a:latin typeface="Segoe UI"/>
              </a:rPr>
              <a:t>Next: richer indication signals · more conditions &amp; sources · a multi-judge panel — trustworthy, auditable AI for clinical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· Open Agent Hackathon 2026 · Track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